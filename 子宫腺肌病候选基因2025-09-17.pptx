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1476" r:id="rId3"/>
    <p:sldId id="1471" r:id="rId4"/>
    <p:sldId id="1474" r:id="rId5"/>
    <p:sldId id="1478" r:id="rId6"/>
    <p:sldId id="1477" r:id="rId7"/>
    <p:sldId id="1475" r:id="rId8"/>
  </p:sldIdLst>
  <p:sldSz cx="12192000" cy="6858000"/>
  <p:notesSz cx="6797675" cy="992632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higang She" initials="" lastIdx="30" clrIdx="0"/>
  <p:cmAuthor id="7" name="A" initials="A" lastIdx="1" clrIdx="6"/>
  <p:cmAuthor id="1" name="843462880@qq.com" initials="8" lastIdx="1" clrIdx="0"/>
  <p:cmAuthor id="2" name="作者" initials="A" lastIdx="0" clrIdx="1"/>
  <p:cmAuthor id="3" name="Administrator" initials="A" lastIdx="1" clrIdx="2"/>
  <p:cmAuthor id="4" name="Liu Hui" initials="L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8E9"/>
    <a:srgbClr val="C8C8FF"/>
    <a:srgbClr val="D9F2FE"/>
    <a:srgbClr val="0098B9"/>
    <a:srgbClr val="B7C82B"/>
    <a:srgbClr val="0046EB"/>
    <a:srgbClr val="D70305"/>
    <a:srgbClr val="E80000"/>
    <a:srgbClr val="118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 autoAdjust="0"/>
    <p:restoredTop sz="96331" autoAdjust="0"/>
  </p:normalViewPr>
  <p:slideViewPr>
    <p:cSldViewPr snapToGrid="0" showGuides="1">
      <p:cViewPr varScale="1">
        <p:scale>
          <a:sx n="91" d="100"/>
          <a:sy n="91" d="100"/>
        </p:scale>
        <p:origin x="68" y="728"/>
      </p:cViewPr>
      <p:guideLst>
        <p:guide orient="horz" pos="2160"/>
        <p:guide pos="4095"/>
      </p:guideLst>
    </p:cSldViewPr>
  </p:slideViewPr>
  <p:outlineViewPr>
    <p:cViewPr>
      <p:scale>
        <a:sx n="33" d="100"/>
        <a:sy n="33" d="100"/>
      </p:scale>
      <p:origin x="0" y="-53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4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 b="0"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 b="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 b="0"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" y="0"/>
            <a:ext cx="12192000" cy="76771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b="1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" y="1"/>
            <a:ext cx="12191999" cy="767714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38200" y="949960"/>
            <a:ext cx="10515600" cy="522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20000"/>
              </a:lnSpc>
              <a:spcBef>
                <a:spcPts val="0"/>
              </a:spcBef>
              <a:defRPr sz="1200" b="1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仿宋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20000"/>
              </a:lnSpc>
              <a:spcBef>
                <a:spcPts val="0"/>
              </a:spcBef>
              <a:defRPr sz="1200" b="1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仿宋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20000"/>
              </a:lnSpc>
              <a:spcBef>
                <a:spcPts val="0"/>
              </a:spcBef>
              <a:defRPr sz="1200" b="1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仿宋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120000"/>
        </a:lnSpc>
        <a:spcBef>
          <a:spcPts val="0"/>
        </a:spcBef>
        <a:buNone/>
        <a:defRPr sz="4400" b="1" u="none" strike="noStrike" kern="1200" cap="none" spc="0" normalizeH="0" baseline="0">
          <a:solidFill>
            <a:schemeClr val="tx1"/>
          </a:solidFill>
          <a:latin typeface="Arial" panose="020B0604020202020204" pitchFamily="34" charset="0"/>
          <a:ea typeface="仿宋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b="1" u="none" strike="noStrike" kern="1200" cap="none" spc="0" normalizeH="0" baseline="0">
          <a:solidFill>
            <a:schemeClr val="tx1"/>
          </a:solidFill>
          <a:latin typeface="Arial" panose="020B0604020202020204" pitchFamily="34" charset="0"/>
          <a:ea typeface="仿宋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b="1" u="none" strike="noStrike" kern="1200" cap="none" spc="0" normalizeH="0" baseline="0">
          <a:solidFill>
            <a:schemeClr val="tx1"/>
          </a:solidFill>
          <a:latin typeface="Arial" panose="020B0604020202020204" pitchFamily="34" charset="0"/>
          <a:ea typeface="仿宋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b="1" u="none" strike="noStrike" kern="1200" cap="none" spc="0" normalizeH="0" baseline="0">
          <a:solidFill>
            <a:schemeClr val="tx1"/>
          </a:solidFill>
          <a:latin typeface="Arial" panose="020B0604020202020204" pitchFamily="34" charset="0"/>
          <a:ea typeface="仿宋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b="1" u="none" strike="noStrike" kern="1200" cap="none" spc="0" normalizeH="0" baseline="0">
          <a:solidFill>
            <a:schemeClr val="tx1"/>
          </a:solidFill>
          <a:latin typeface="Arial" panose="020B0604020202020204" pitchFamily="34" charset="0"/>
          <a:ea typeface="仿宋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b="1" u="none" strike="noStrike" kern="1200" cap="none" spc="0" normalizeH="0" baseline="0">
          <a:solidFill>
            <a:schemeClr val="tx1"/>
          </a:solidFill>
          <a:latin typeface="Arial" panose="020B0604020202020204" pitchFamily="34" charset="0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sym typeface="Arial" panose="020B0604020202020204" pitchFamily="34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、数据准备</a:t>
            </a:r>
            <a:endParaRPr lang="zh-CN" altLang="en-US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0185" y="869315"/>
            <a:ext cx="1150048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ym typeface="Arial" panose="020B0604020202020204" pitchFamily="34" charset="0"/>
              </a:rPr>
              <a:t>从</a:t>
            </a:r>
            <a:r>
              <a:rPr lang="en-US" altLang="zh-CN" sz="1600" b="1" dirty="0">
                <a:sym typeface="Arial" panose="020B0604020202020204" pitchFamily="34" charset="0"/>
              </a:rPr>
              <a:t>GEO </a:t>
            </a:r>
            <a:r>
              <a:rPr lang="zh-CN" altLang="en-US" sz="1600" b="1" dirty="0">
                <a:sym typeface="Arial" panose="020B0604020202020204" pitchFamily="34" charset="0"/>
              </a:rPr>
              <a:t>下载并分析</a:t>
            </a:r>
            <a:r>
              <a:rPr lang="en-US" altLang="zh-CN" sz="1600" b="1" dirty="0">
                <a:sym typeface="Arial" panose="020B0604020202020204" pitchFamily="34" charset="0"/>
              </a:rPr>
              <a:t>3</a:t>
            </a:r>
            <a:r>
              <a:rPr lang="zh-CN" altLang="en-US" sz="1600" b="1" dirty="0">
                <a:sym typeface="Arial" panose="020B0604020202020204" pitchFamily="34" charset="0"/>
              </a:rPr>
              <a:t>个</a:t>
            </a:r>
            <a:r>
              <a:rPr lang="zh-CN" altLang="en-US" sz="1600" b="1" dirty="0">
                <a:solidFill>
                  <a:schemeClr val="tx1"/>
                </a:solidFill>
                <a:sym typeface="Arial" panose="020B0604020202020204" pitchFamily="34" charset="0"/>
              </a:rPr>
              <a:t>子宫腺肌病数据集</a:t>
            </a:r>
            <a:endParaRPr lang="zh-CN" altLang="en-US" sz="1600" b="1" dirty="0">
              <a:latin typeface="Arial" panose="020B0604020202020204" pitchFamily="34" charset="0"/>
              <a:ea typeface="仿宋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2805" y="1529080"/>
          <a:ext cx="10215880" cy="2044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930"/>
                <a:gridCol w="2033270"/>
                <a:gridCol w="2354580"/>
                <a:gridCol w="4229100"/>
              </a:tblGrid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编号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物种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类型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19430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GSE185392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</a:rPr>
                        <a:t>Homo sapiens</a:t>
                      </a:r>
                      <a:endParaRPr lang="zh-CN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高通量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en-US" altLang="zh-CN" b="1"/>
                        <a:t>adenomyosis</a:t>
                      </a:r>
                      <a:r>
                        <a:rPr lang="zh-CN" altLang="en-US" b="1"/>
                        <a:t>（</a:t>
                      </a:r>
                      <a:r>
                        <a:rPr lang="en-US" altLang="zh-CN" b="1"/>
                        <a:t>10</a:t>
                      </a:r>
                      <a:r>
                        <a:rPr lang="zh-CN" altLang="en-US" b="1"/>
                        <a:t>）</a:t>
                      </a:r>
                      <a:r>
                        <a:rPr lang="en-US" altLang="zh-CN" b="1"/>
                        <a:t> vs control</a:t>
                      </a:r>
                      <a:r>
                        <a:rPr lang="zh-CN" altLang="en-US" sz="1800" b="1">
                          <a:sym typeface="+mn-ea"/>
                        </a:rPr>
                        <a:t>（</a:t>
                      </a:r>
                      <a:r>
                        <a:rPr lang="en-US" altLang="zh-CN" sz="1800" b="1">
                          <a:sym typeface="+mn-ea"/>
                        </a:rPr>
                        <a:t>10</a:t>
                      </a:r>
                      <a:r>
                        <a:rPr lang="zh-CN" altLang="en-US" sz="1800" b="1">
                          <a:sym typeface="+mn-ea"/>
                        </a:rPr>
                        <a:t>）</a:t>
                      </a:r>
                      <a:endParaRPr lang="en-US" altLang="zh-CN" b="1"/>
                    </a:p>
                  </a:txBody>
                  <a:tcPr/>
                </a:tc>
              </a:tr>
              <a:tr h="519430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GSE190580 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</a:rPr>
                        <a:t>Homo sapiens</a:t>
                      </a:r>
                      <a:endParaRPr lang="zh-CN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高通量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en-US" altLang="zh-CN" b="1"/>
                        <a:t>adenomyosis</a:t>
                      </a:r>
                      <a:r>
                        <a:rPr lang="zh-CN" altLang="en-US" b="1"/>
                        <a:t>（</a:t>
                      </a:r>
                      <a:r>
                        <a:rPr lang="en-US" altLang="zh-CN" b="1"/>
                        <a:t>6</a:t>
                      </a:r>
                      <a:r>
                        <a:rPr lang="zh-CN" altLang="en-US" b="1"/>
                        <a:t>）</a:t>
                      </a:r>
                      <a:r>
                        <a:rPr lang="en-US" altLang="zh-CN" b="1"/>
                        <a:t> vs control</a:t>
                      </a:r>
                      <a:r>
                        <a:rPr lang="zh-CN" altLang="en-US" sz="1800" b="1">
                          <a:sym typeface="+mn-ea"/>
                        </a:rPr>
                        <a:t>（</a:t>
                      </a:r>
                      <a:r>
                        <a:rPr lang="en-US" altLang="zh-CN" sz="1800" b="1">
                          <a:sym typeface="+mn-ea"/>
                        </a:rPr>
                        <a:t>5</a:t>
                      </a:r>
                      <a:r>
                        <a:rPr lang="zh-CN" altLang="en-US" sz="1800" b="1">
                          <a:sym typeface="+mn-ea"/>
                        </a:rPr>
                        <a:t>）</a:t>
                      </a:r>
                      <a:endParaRPr lang="en-US" altLang="zh-CN" b="1"/>
                    </a:p>
                  </a:txBody>
                  <a:tcPr/>
                </a:tc>
              </a:tr>
              <a:tr h="554355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GSE244236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</a:rPr>
                        <a:t>Homo sapiens</a:t>
                      </a:r>
                      <a:endParaRPr lang="zh-CN" altLang="en-US" sz="18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高通量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30000"/>
                        </a:lnSpc>
                        <a:buNone/>
                      </a:pPr>
                      <a:r>
                        <a:rPr lang="en-US" altLang="zh-CN" b="1"/>
                        <a:t>adenomyosis</a:t>
                      </a:r>
                      <a:r>
                        <a:rPr lang="zh-CN" altLang="en-US" b="1"/>
                        <a:t>（</a:t>
                      </a:r>
                      <a:r>
                        <a:rPr lang="en-US" altLang="zh-CN" b="1"/>
                        <a:t>14</a:t>
                      </a:r>
                      <a:r>
                        <a:rPr lang="zh-CN" altLang="en-US" b="1"/>
                        <a:t>）</a:t>
                      </a:r>
                      <a:r>
                        <a:rPr lang="en-US" altLang="zh-CN" b="1"/>
                        <a:t> vs control</a:t>
                      </a:r>
                      <a:r>
                        <a:rPr lang="zh-CN" altLang="en-US" sz="1800" b="1">
                          <a:sym typeface="+mn-ea"/>
                        </a:rPr>
                        <a:t>（</a:t>
                      </a:r>
                      <a:r>
                        <a:rPr lang="en-US" altLang="zh-CN" sz="1800" b="1">
                          <a:sym typeface="+mn-ea"/>
                        </a:rPr>
                        <a:t>12</a:t>
                      </a:r>
                      <a:r>
                        <a:rPr lang="zh-CN" altLang="en-US" sz="1800" b="1">
                          <a:sym typeface="+mn-ea"/>
                        </a:rPr>
                        <a:t>）</a:t>
                      </a:r>
                      <a:endParaRPr lang="en-US" altLang="zh-CN"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7810" y="2102485"/>
            <a:ext cx="2870200" cy="215138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sym typeface="Arial" panose="020B0604020202020204" pitchFamily="34" charset="0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、差异表达基因的鉴定</a:t>
            </a:r>
            <a:endParaRPr lang="zh-CN" altLang="en-US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0185" y="930275"/>
            <a:ext cx="1150048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需求描述：</a:t>
            </a:r>
            <a:r>
              <a:rPr lang="zh-CN" altLang="en-US" sz="1600" b="1">
                <a:sym typeface="+mn-ea"/>
              </a:rPr>
              <a:t>GSE185392、</a:t>
            </a:r>
            <a:r>
              <a:rPr lang="en-US" altLang="zh-CN" sz="1600" b="1">
                <a:sym typeface="+mn-ea"/>
              </a:rPr>
              <a:t>GSE190580 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分别绘制火山图和热图展示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DEGs（Fig.1a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b）</a:t>
            </a:r>
            <a:endParaRPr lang="en-US" altLang="zh-CN" sz="1600" b="1" dirty="0">
              <a:latin typeface="Arial" panose="020B0604020202020204" pitchFamily="34" charset="0"/>
              <a:ea typeface="仿宋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" y="2060575"/>
            <a:ext cx="2734945" cy="21932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960" y="2116455"/>
            <a:ext cx="2671445" cy="213741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5405" y="2071370"/>
            <a:ext cx="2880360" cy="2182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Arial" panose="020B0604020202020204" pitchFamily="34" charset="0"/>
              </a:rPr>
              <a:t>3</a:t>
            </a:r>
            <a:r>
              <a:rPr lang="zh-CN" altLang="en-US" dirty="0">
                <a:sym typeface="Arial" panose="020B0604020202020204" pitchFamily="34" charset="0"/>
              </a:rPr>
              <a:t>、</a:t>
            </a:r>
            <a:r>
              <a:rPr lang="zh-CN" altLang="en-US" dirty="0">
                <a:sym typeface="Arial" panose="020B0604020202020204" pitchFamily="34" charset="0"/>
              </a:rPr>
              <a:t>富集分析</a:t>
            </a:r>
            <a:endParaRPr lang="zh-CN" altLang="en-US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0185" y="930275"/>
            <a:ext cx="1150048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需求描述：</a:t>
            </a:r>
            <a:r>
              <a:rPr lang="zh-CN" altLang="en-US" sz="1600" b="1">
                <a:sym typeface="+mn-ea"/>
              </a:rPr>
              <a:t>GSE185392、</a:t>
            </a:r>
            <a:r>
              <a:rPr lang="en-US" altLang="zh-CN" sz="1600" b="1">
                <a:sym typeface="+mn-ea"/>
              </a:rPr>
              <a:t>GSE190580 </a:t>
            </a:r>
            <a:r>
              <a:rPr lang="zh-CN" altLang="en-US" sz="1600" b="1">
                <a:sym typeface="+mn-ea"/>
              </a:rPr>
              <a:t>差异基因</a:t>
            </a:r>
            <a:r>
              <a:rPr lang="zh-CN" altLang="en-US" sz="1600" b="1">
                <a:sym typeface="+mn-ea"/>
              </a:rPr>
              <a:t>富集</a:t>
            </a:r>
            <a:endParaRPr lang="zh-CN" altLang="en-US" sz="1600" b="1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70" y="1959610"/>
            <a:ext cx="5203190" cy="41541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1823720"/>
            <a:ext cx="5814695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sym typeface="Arial" panose="020B0604020202020204" pitchFamily="34" charset="0"/>
              </a:rPr>
              <a:t>4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、差异基因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富集分析</a:t>
            </a:r>
            <a:endParaRPr lang="zh-CN" altLang="en-US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0185" y="930275"/>
            <a:ext cx="11500485" cy="73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需求描述：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通过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STRING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数据库（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https://cn.string-db.org/）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获取相关蛋白的相互作用信息，并据此构建蛋白质互作网络（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PPI）。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分析中将相互作用得分的最低可信标准设为0.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15</a:t>
            </a:r>
            <a:endParaRPr lang="en-US" altLang="zh-CN" sz="1600" b="1" dirty="0">
              <a:latin typeface="Arial" panose="020B0604020202020204" pitchFamily="34" charset="0"/>
              <a:ea typeface="仿宋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文本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28295" y="5855335"/>
            <a:ext cx="11550015" cy="7734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基于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DEGs1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（</a:t>
            </a:r>
            <a:r>
              <a:rPr lang="zh-CN" altLang="en-US" sz="1200">
                <a:sym typeface="+mn-ea"/>
              </a:rPr>
              <a:t>GSE185392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）和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DEGs2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（</a:t>
            </a:r>
            <a:r>
              <a:rPr lang="en-US" altLang="zh-CN" sz="1200">
                <a:sym typeface="+mn-ea"/>
              </a:rPr>
              <a:t>GSE190580 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）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，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将两个数据集差异分析都上调的基因和都下调的基因取交集，之后取并集，获得最终的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8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个交集基因：下调：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ATP1A2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LOC105377543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ANKRD55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IDO2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CYP2C9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；上调：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OVOL1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DLX3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、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PLA2G3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145" y="2558415"/>
            <a:ext cx="3055620" cy="24612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" y="1895475"/>
            <a:ext cx="3521710" cy="3562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475" y="1904365"/>
            <a:ext cx="3620135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sym typeface="Arial" panose="020B0604020202020204" pitchFamily="34" charset="0"/>
              </a:rPr>
              <a:t>5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、机器学习分析[</a:t>
            </a:r>
            <a:r>
              <a:rPr lang="en-US" altLang="zh-CN" dirty="0">
                <a:cs typeface="+mn-ea"/>
                <a:sym typeface="Arial" panose="020B0604020202020204" pitchFamily="34" charset="0"/>
              </a:rPr>
              <a:t>GSE185392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]</a:t>
            </a:r>
            <a:endParaRPr lang="zh-CN" altLang="en-US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0185" y="930275"/>
            <a:ext cx="1150048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需求描述：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GSE185392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机器学习分析筛选出与子宫腺肌病相关的特征基因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4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个</a:t>
            </a:r>
            <a:endParaRPr lang="zh-CN" altLang="en-US" sz="1600" b="1" dirty="0">
              <a:latin typeface="Arial" panose="020B0604020202020204" pitchFamily="34" charset="0"/>
              <a:ea typeface="仿宋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文本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28295" y="5418455"/>
            <a:ext cx="11550015" cy="88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u="none" strike="noStrike" kern="1200" cap="none" spc="0" normalizeH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ea typeface="仿宋" panose="02010609060101010101" pitchFamily="49" charset="-122"/>
                <a:sym typeface="Arial" panose="020B0604020202020204" pitchFamily="34" charset="0"/>
              </a:rPr>
              <a:t>结果</a:t>
            </a:r>
            <a:r>
              <a:rPr lang="en-US" altLang="zh-CN" sz="1200" dirty="0">
                <a:ea typeface="仿宋" panose="02010609060101010101" pitchFamily="49" charset="-122"/>
                <a:sym typeface="Arial" panose="020B0604020202020204" pitchFamily="34" charset="0"/>
              </a:rPr>
              <a:t>2</a:t>
            </a:r>
            <a:r>
              <a:rPr lang="zh-CN" altLang="en-US" sz="1200" dirty="0">
                <a:ea typeface="仿宋" panose="02010609060101010101" pitchFamily="49" charset="-122"/>
                <a:sym typeface="Arial" panose="020B0604020202020204" pitchFamily="34" charset="0"/>
              </a:rPr>
              <a:t>：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随机森林、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SVM-RFE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LASSO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回归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3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种机器学习算法得到的特征基因取交集，得到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5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个子宫腺肌病疾病的特征基因：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MIR660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SIRPG-AS1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LOC107986716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SYN3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、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LOC105371088</a:t>
            </a:r>
            <a:endParaRPr lang="en-US" alt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1200" dirty="0">
              <a:latin typeface="Times New Roman" panose="02020603050405020304" pitchFamily="18" charset="0"/>
              <a:ea typeface="楷体" panose="02010609060101010101" pitchFamily="49" charset="-122"/>
              <a:sym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460" y="1887220"/>
            <a:ext cx="3460750" cy="25266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85" y="1854200"/>
            <a:ext cx="4164965" cy="24784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120" y="1663700"/>
            <a:ext cx="3511550" cy="3192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sym typeface="Arial" panose="020B0604020202020204" pitchFamily="34" charset="0"/>
              </a:rPr>
              <a:t>6</a:t>
            </a:r>
            <a:r>
              <a:rPr lang="zh-CN" altLang="en-US" dirty="0">
                <a:solidFill>
                  <a:schemeClr val="bg1"/>
                </a:solidFill>
                <a:sym typeface="Arial" panose="020B0604020202020204" pitchFamily="34" charset="0"/>
              </a:rPr>
              <a:t>、</a:t>
            </a:r>
            <a:r>
              <a:rPr lang="zh-CN" altLang="en-US" dirty="0">
                <a:cs typeface="+mn-ea"/>
                <a:sym typeface="Arial" panose="020B0604020202020204" pitchFamily="34" charset="0"/>
              </a:rPr>
              <a:t>特征基因</a:t>
            </a:r>
            <a:r>
              <a:rPr lang="zh-CN" altLang="en-US" dirty="0">
                <a:cs typeface="+mn-ea"/>
                <a:sym typeface="Arial" panose="020B0604020202020204" pitchFamily="34" charset="0"/>
              </a:rPr>
              <a:t>的表达量水平分析+</a:t>
            </a:r>
            <a:r>
              <a:rPr lang="en-US" altLang="zh-CN" dirty="0">
                <a:cs typeface="+mn-ea"/>
                <a:sym typeface="Arial" panose="020B0604020202020204" pitchFamily="34" charset="0"/>
              </a:rPr>
              <a:t>ROC</a:t>
            </a:r>
            <a:r>
              <a:rPr lang="zh-CN" altLang="en-US" dirty="0">
                <a:cs typeface="+mn-ea"/>
                <a:sym typeface="Arial" panose="020B0604020202020204" pitchFamily="34" charset="0"/>
              </a:rPr>
              <a:t>曲线分析</a:t>
            </a:r>
            <a:endParaRPr lang="en-US" altLang="zh-CN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0185" y="930275"/>
            <a:ext cx="11500485" cy="41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ym typeface="Arial" panose="020B0604020202020204" pitchFamily="34" charset="0"/>
              </a:rPr>
              <a:t>需求描述：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GSE185392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中筛选出的特征基因进行表达量水平分析+</a:t>
            </a:r>
            <a:r>
              <a:rPr lang="en-US" altLang="zh-CN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ROC</a:t>
            </a:r>
            <a:r>
              <a:rPr lang="zh-CN" altLang="en-US" sz="1600" b="1" dirty="0">
                <a:latin typeface="Arial" panose="020B0604020202020204" pitchFamily="34" charset="0"/>
                <a:ea typeface="仿宋" panose="02010609060101010101" pitchFamily="49" charset="-122"/>
                <a:cs typeface="+mn-ea"/>
                <a:sym typeface="Arial" panose="020B0604020202020204" pitchFamily="34" charset="0"/>
              </a:rPr>
              <a:t>曲线分析</a:t>
            </a:r>
            <a:endParaRPr lang="zh-CN" altLang="en-US" sz="1600" b="1" dirty="0">
              <a:latin typeface="Arial" panose="020B0604020202020204" pitchFamily="34" charset="0"/>
              <a:ea typeface="仿宋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" y="1739900"/>
            <a:ext cx="6977380" cy="4642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070" y="1635760"/>
            <a:ext cx="3679825" cy="48507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04*276"/>
  <p:tag name="TABLE_ENDDRAG_RECT" val="70*123*804*276"/>
</p:tagLst>
</file>

<file path=ppt/tags/tag2.xml><?xml version="1.0" encoding="utf-8"?>
<p:tagLst xmlns:p="http://schemas.openxmlformats.org/presentationml/2006/main">
  <p:tag name="KSO_WM_DIAGRAM_VIRTUALLY_FRAME" val="{&quot;height&quot;:331.38695652173914,&quot;left&quot;:11.71480956450964,&quot;top&quot;:149.56304347826085,&quot;width&quot;:913.3965290181675}"/>
</p:tagLst>
</file>

<file path=ppt/tags/tag3.xml><?xml version="1.0" encoding="utf-8"?>
<p:tagLst xmlns:p="http://schemas.openxmlformats.org/presentationml/2006/main">
  <p:tag name="KSO_WM_DIAGRAM_VIRTUALLY_FRAME" val="{&quot;height&quot;:331.38695652173914,&quot;left&quot;:11.71480956450964,&quot;top&quot;:149.56304347826085,&quot;width&quot;:913.3965290181675}"/>
</p:tagLst>
</file>

<file path=ppt/tags/tag4.xml><?xml version="1.0" encoding="utf-8"?>
<p:tagLst xmlns:p="http://schemas.openxmlformats.org/presentationml/2006/main">
  <p:tag name="COMMONDATA" val="eyJoZGlkIjoiZmIzOGM5OTg2OTc5MjI3Zjc4MzMyNGYzY2I0YjQzZjgifQ=="/>
  <p:tag name="KSO_WPP_MARK_KEY" val="2f9ae5ec-1306-4efa-87f9-f4b103d3aad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仿宋"/>
        <a:cs typeface=""/>
      </a:majorFont>
      <a:minorFont>
        <a:latin typeface="Arial"/>
        <a:ea typeface="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9050">
          <a:solidFill>
            <a:srgbClr val="0070C0"/>
          </a:solidFill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txDef>
      <a:spPr>
        <a:noFill/>
      </a:spPr>
      <a:bodyPr wrap="square" rtlCol="0">
        <a:spAutoFit/>
      </a:bodyPr>
      <a:lstStyle>
        <a:defPPr indent="0" algn="ctr" fontAlgn="auto">
          <a:lnSpc>
            <a:spcPct val="100000"/>
          </a:lnSpc>
          <a:defRPr kumimoji="1" lang="zh-CN" altLang="en-US" sz="1400" b="1" dirty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WPS 演示</Application>
  <PresentationFormat>宽屏</PresentationFormat>
  <Paragraphs>61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仿宋</vt:lpstr>
      <vt:lpstr>微软雅黑</vt:lpstr>
      <vt:lpstr>Times New Roman</vt:lpstr>
      <vt:lpstr>楷体</vt:lpstr>
      <vt:lpstr>Arial Unicode MS</vt:lpstr>
      <vt:lpstr>Calibri</vt:lpstr>
      <vt:lpstr>Verdana</vt:lpstr>
      <vt:lpstr>Office 主题</vt:lpstr>
      <vt:lpstr>2、差异表达基因的鉴定</vt:lpstr>
      <vt:lpstr>生信需求详情 —— 2025_057</vt:lpstr>
      <vt:lpstr>生信需求详情 —— 2025_057</vt:lpstr>
      <vt:lpstr>3、差异基因筛选和PPI分析</vt:lpstr>
      <vt:lpstr>生信需求详情 —— 2025_057</vt:lpstr>
      <vt:lpstr>生信需求详情 —— 2025_057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Propitious</dc:creator>
  <cp:lastModifiedBy>wpogulponxifu</cp:lastModifiedBy>
  <cp:revision>858</cp:revision>
  <cp:lastPrinted>2024-01-08T07:59:00Z</cp:lastPrinted>
  <dcterms:created xsi:type="dcterms:W3CDTF">2022-07-07T02:40:00Z</dcterms:created>
  <dcterms:modified xsi:type="dcterms:W3CDTF">2026-06-06T18:57:07Z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C9F6D9EAEEE94280B49B3FB23FAB4E93_13</vt:lpwstr>
  </property>
  <property fmtid="{D5CDD505-2E9C-101B-9397-08002B2CF9AE}" pid="3" name="KSOProductBuildVer">
    <vt:lpwstr>2052-12.1.0.26375</vt:lpwstr>
  </property>
</Properties>
</file>