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679805" cy="1079944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12" userDrawn="1">
          <p15:clr>
            <a:srgbClr val="A4A3A4"/>
          </p15:clr>
        </p15:guide>
        <p15:guide id="2" pos="42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2EC"/>
    <a:srgbClr val="E6E6E6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512"/>
        <p:guide pos="42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0317" y="1767740"/>
            <a:ext cx="10261905" cy="3760507"/>
          </a:xfrm>
        </p:spPr>
        <p:txBody>
          <a:bodyPr anchor="b"/>
          <a:lstStyle>
            <a:lvl1pPr algn="ctr">
              <a:defRPr sz="89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0317" y="5673266"/>
            <a:ext cx="10261905" cy="2607851"/>
          </a:xfrm>
        </p:spPr>
        <p:txBody>
          <a:bodyPr/>
          <a:lstStyle>
            <a:lvl1pPr marL="0" indent="0" algn="ctr">
              <a:buNone/>
              <a:defRPr sz="3590"/>
            </a:lvl1pPr>
            <a:lvl2pPr marL="683895" indent="0" algn="ctr">
              <a:buNone/>
              <a:defRPr sz="2990"/>
            </a:lvl2pPr>
            <a:lvl3pPr marL="1367790" indent="0" algn="ctr">
              <a:buNone/>
              <a:defRPr sz="2695"/>
            </a:lvl3pPr>
            <a:lvl4pPr marL="2052320" indent="0" algn="ctr">
              <a:buNone/>
              <a:defRPr sz="2395"/>
            </a:lvl4pPr>
            <a:lvl5pPr marL="2736850" indent="0" algn="ctr">
              <a:buNone/>
              <a:defRPr sz="2395"/>
            </a:lvl5pPr>
            <a:lvl6pPr marL="3420110" indent="0" algn="ctr">
              <a:buNone/>
              <a:defRPr sz="2395"/>
            </a:lvl6pPr>
            <a:lvl7pPr marL="4104005" indent="0" algn="ctr">
              <a:buNone/>
              <a:defRPr sz="2395"/>
            </a:lvl7pPr>
            <a:lvl8pPr marL="4789170" indent="0" algn="ctr">
              <a:buNone/>
              <a:defRPr sz="2395"/>
            </a:lvl8pPr>
            <a:lvl9pPr marL="5473065" indent="0" algn="ctr">
              <a:buNone/>
              <a:defRPr sz="239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3548" y="2692864"/>
            <a:ext cx="11801190" cy="4493105"/>
          </a:xfrm>
        </p:spPr>
        <p:txBody>
          <a:bodyPr anchor="b"/>
          <a:lstStyle>
            <a:lvl1pPr>
              <a:defRPr sz="89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3548" y="7228476"/>
            <a:ext cx="11801190" cy="2362818"/>
          </a:xfrm>
        </p:spPr>
        <p:txBody>
          <a:bodyPr/>
          <a:lstStyle>
            <a:lvl1pPr marL="0" indent="0">
              <a:buNone/>
              <a:defRPr sz="3590">
                <a:solidFill>
                  <a:schemeClr val="tx1">
                    <a:tint val="75000"/>
                  </a:schemeClr>
                </a:solidFill>
              </a:defRPr>
            </a:lvl1pPr>
            <a:lvl2pPr marL="683895" indent="0">
              <a:buNone/>
              <a:defRPr sz="2990">
                <a:solidFill>
                  <a:schemeClr val="tx1">
                    <a:tint val="75000"/>
                  </a:schemeClr>
                </a:solidFill>
              </a:defRPr>
            </a:lvl2pPr>
            <a:lvl3pPr marL="1367790" indent="0">
              <a:buNone/>
              <a:defRPr sz="2695">
                <a:solidFill>
                  <a:schemeClr val="tx1">
                    <a:tint val="75000"/>
                  </a:schemeClr>
                </a:solidFill>
              </a:defRPr>
            </a:lvl3pPr>
            <a:lvl4pPr marL="205232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4pPr>
            <a:lvl5pPr marL="273685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5pPr>
            <a:lvl6pPr marL="342011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6pPr>
            <a:lvl7pPr marL="4104005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7pPr>
            <a:lvl8pPr marL="478917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8pPr>
            <a:lvl9pPr marL="5473065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0674" y="2875388"/>
            <a:ext cx="5815079" cy="6853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26785" y="2875388"/>
            <a:ext cx="5815079" cy="6853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2457" y="575078"/>
            <a:ext cx="11801190" cy="208778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2457" y="2647858"/>
            <a:ext cx="5788354" cy="1297674"/>
          </a:xfrm>
        </p:spPr>
        <p:txBody>
          <a:bodyPr anchor="b"/>
          <a:lstStyle>
            <a:lvl1pPr marL="0" indent="0">
              <a:buNone/>
              <a:defRPr sz="3590" b="1"/>
            </a:lvl1pPr>
            <a:lvl2pPr marL="683895" indent="0">
              <a:buNone/>
              <a:defRPr sz="2990" b="1"/>
            </a:lvl2pPr>
            <a:lvl3pPr marL="1367790" indent="0">
              <a:buNone/>
              <a:defRPr sz="2695" b="1"/>
            </a:lvl3pPr>
            <a:lvl4pPr marL="2052320" indent="0">
              <a:buNone/>
              <a:defRPr sz="2395" b="1"/>
            </a:lvl4pPr>
            <a:lvl5pPr marL="2736850" indent="0">
              <a:buNone/>
              <a:defRPr sz="2395" b="1"/>
            </a:lvl5pPr>
            <a:lvl6pPr marL="3420110" indent="0">
              <a:buNone/>
              <a:defRPr sz="2395" b="1"/>
            </a:lvl6pPr>
            <a:lvl7pPr marL="4104005" indent="0">
              <a:buNone/>
              <a:defRPr sz="2395" b="1"/>
            </a:lvl7pPr>
            <a:lvl8pPr marL="4789170" indent="0">
              <a:buNone/>
              <a:defRPr sz="2395" b="1"/>
            </a:lvl8pPr>
            <a:lvl9pPr marL="5473065" indent="0">
              <a:buNone/>
              <a:defRPr sz="23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2457" y="3945532"/>
            <a:ext cx="5788354" cy="5803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26785" y="2647858"/>
            <a:ext cx="5816861" cy="1297674"/>
          </a:xfrm>
        </p:spPr>
        <p:txBody>
          <a:bodyPr anchor="b"/>
          <a:lstStyle>
            <a:lvl1pPr marL="0" indent="0">
              <a:buNone/>
              <a:defRPr sz="3590" b="1"/>
            </a:lvl1pPr>
            <a:lvl2pPr marL="683895" indent="0">
              <a:buNone/>
              <a:defRPr sz="2990" b="1"/>
            </a:lvl2pPr>
            <a:lvl3pPr marL="1367790" indent="0">
              <a:buNone/>
              <a:defRPr sz="2695" b="1"/>
            </a:lvl3pPr>
            <a:lvl4pPr marL="2052320" indent="0">
              <a:buNone/>
              <a:defRPr sz="2395" b="1"/>
            </a:lvl4pPr>
            <a:lvl5pPr marL="2736850" indent="0">
              <a:buNone/>
              <a:defRPr sz="2395" b="1"/>
            </a:lvl5pPr>
            <a:lvl6pPr marL="3420110" indent="0">
              <a:buNone/>
              <a:defRPr sz="2395" b="1"/>
            </a:lvl6pPr>
            <a:lvl7pPr marL="4104005" indent="0">
              <a:buNone/>
              <a:defRPr sz="2395" b="1"/>
            </a:lvl7pPr>
            <a:lvl8pPr marL="4789170" indent="0">
              <a:buNone/>
              <a:defRPr sz="2395" b="1"/>
            </a:lvl8pPr>
            <a:lvl9pPr marL="5473065" indent="0">
              <a:buNone/>
              <a:defRPr sz="23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26785" y="3945532"/>
            <a:ext cx="5816861" cy="5803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2457" y="720097"/>
            <a:ext cx="4412975" cy="2520340"/>
          </a:xfrm>
        </p:spPr>
        <p:txBody>
          <a:bodyPr anchor="b"/>
          <a:lstStyle>
            <a:lvl1pPr>
              <a:defRPr sz="479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6861" y="1555210"/>
            <a:ext cx="6926785" cy="7676035"/>
          </a:xfrm>
        </p:spPr>
        <p:txBody>
          <a:bodyPr/>
          <a:lstStyle>
            <a:lvl1pPr>
              <a:defRPr sz="4795"/>
            </a:lvl1pPr>
            <a:lvl2pPr>
              <a:defRPr sz="4190"/>
            </a:lvl2pPr>
            <a:lvl3pPr>
              <a:defRPr sz="3590"/>
            </a:lvl3pPr>
            <a:lvl4pPr>
              <a:defRPr sz="2990"/>
            </a:lvl4pPr>
            <a:lvl5pPr>
              <a:defRPr sz="2990"/>
            </a:lvl5pPr>
            <a:lvl6pPr>
              <a:defRPr sz="2990"/>
            </a:lvl6pPr>
            <a:lvl7pPr>
              <a:defRPr sz="2990"/>
            </a:lvl7pPr>
            <a:lvl8pPr>
              <a:defRPr sz="2990"/>
            </a:lvl8pPr>
            <a:lvl9pPr>
              <a:defRPr sz="29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457" y="3240437"/>
            <a:ext cx="4412975" cy="6003310"/>
          </a:xfrm>
        </p:spPr>
        <p:txBody>
          <a:bodyPr/>
          <a:lstStyle>
            <a:lvl1pPr marL="0" indent="0">
              <a:buNone/>
              <a:defRPr sz="2395"/>
            </a:lvl1pPr>
            <a:lvl2pPr marL="683895" indent="0">
              <a:buNone/>
              <a:defRPr sz="2095"/>
            </a:lvl2pPr>
            <a:lvl3pPr marL="1367790" indent="0">
              <a:buNone/>
              <a:defRPr sz="1795"/>
            </a:lvl3pPr>
            <a:lvl4pPr marL="2052320" indent="0">
              <a:buNone/>
              <a:defRPr sz="1490"/>
            </a:lvl4pPr>
            <a:lvl5pPr marL="2736850" indent="0">
              <a:buNone/>
              <a:defRPr sz="1490"/>
            </a:lvl5pPr>
            <a:lvl6pPr marL="3420110" indent="0">
              <a:buNone/>
              <a:defRPr sz="1490"/>
            </a:lvl6pPr>
            <a:lvl7pPr marL="4104005" indent="0">
              <a:buNone/>
              <a:defRPr sz="1490"/>
            </a:lvl7pPr>
            <a:lvl8pPr marL="4789170" indent="0">
              <a:buNone/>
              <a:defRPr sz="1490"/>
            </a:lvl8pPr>
            <a:lvl9pPr marL="547306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2457" y="720097"/>
            <a:ext cx="4412975" cy="2520340"/>
          </a:xfrm>
        </p:spPr>
        <p:txBody>
          <a:bodyPr anchor="b"/>
          <a:lstStyle>
            <a:lvl1pPr>
              <a:defRPr sz="479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16861" y="1555210"/>
            <a:ext cx="6926785" cy="7676035"/>
          </a:xfrm>
        </p:spPr>
        <p:txBody>
          <a:bodyPr/>
          <a:lstStyle>
            <a:lvl1pPr marL="0" indent="0">
              <a:buNone/>
              <a:defRPr sz="4795"/>
            </a:lvl1pPr>
            <a:lvl2pPr marL="683895" indent="0">
              <a:buNone/>
              <a:defRPr sz="4190"/>
            </a:lvl2pPr>
            <a:lvl3pPr marL="1367790" indent="0">
              <a:buNone/>
              <a:defRPr sz="3590"/>
            </a:lvl3pPr>
            <a:lvl4pPr marL="2052320" indent="0">
              <a:buNone/>
              <a:defRPr sz="2990"/>
            </a:lvl4pPr>
            <a:lvl5pPr marL="2736850" indent="0">
              <a:buNone/>
              <a:defRPr sz="2990"/>
            </a:lvl5pPr>
            <a:lvl6pPr marL="3420110" indent="0">
              <a:buNone/>
              <a:defRPr sz="2990"/>
            </a:lvl6pPr>
            <a:lvl7pPr marL="4104005" indent="0">
              <a:buNone/>
              <a:defRPr sz="2990"/>
            </a:lvl7pPr>
            <a:lvl8pPr marL="4789170" indent="0">
              <a:buNone/>
              <a:defRPr sz="2990"/>
            </a:lvl8pPr>
            <a:lvl9pPr marL="5473065" indent="0">
              <a:buNone/>
              <a:defRPr sz="29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457" y="3240437"/>
            <a:ext cx="4412975" cy="6003310"/>
          </a:xfrm>
        </p:spPr>
        <p:txBody>
          <a:bodyPr/>
          <a:lstStyle>
            <a:lvl1pPr marL="0" indent="0">
              <a:buNone/>
              <a:defRPr sz="2395"/>
            </a:lvl1pPr>
            <a:lvl2pPr marL="683895" indent="0">
              <a:buNone/>
              <a:defRPr sz="2095"/>
            </a:lvl2pPr>
            <a:lvl3pPr marL="1367790" indent="0">
              <a:buNone/>
              <a:defRPr sz="1795"/>
            </a:lvl3pPr>
            <a:lvl4pPr marL="2052320" indent="0">
              <a:buNone/>
              <a:defRPr sz="1490"/>
            </a:lvl4pPr>
            <a:lvl5pPr marL="2736850" indent="0">
              <a:buNone/>
              <a:defRPr sz="1490"/>
            </a:lvl5pPr>
            <a:lvl6pPr marL="3420110" indent="0">
              <a:buNone/>
              <a:defRPr sz="1490"/>
            </a:lvl6pPr>
            <a:lvl7pPr marL="4104005" indent="0">
              <a:buNone/>
              <a:defRPr sz="1490"/>
            </a:lvl7pPr>
            <a:lvl8pPr marL="4789170" indent="0">
              <a:buNone/>
              <a:defRPr sz="1490"/>
            </a:lvl8pPr>
            <a:lvl9pPr marL="547306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791568" y="575078"/>
            <a:ext cx="2950298" cy="915373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0674" y="575078"/>
            <a:ext cx="8679861" cy="915373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40674" y="575078"/>
            <a:ext cx="11801190" cy="2087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0674" y="2875388"/>
            <a:ext cx="11801190" cy="6853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0674" y="10011349"/>
            <a:ext cx="3078572" cy="575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32341" y="10011349"/>
            <a:ext cx="4617857" cy="575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63294" y="10011349"/>
            <a:ext cx="3078572" cy="575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67790" rtl="0" eaLnBrk="1" latinLnBrk="0" hangingPunct="1">
        <a:lnSpc>
          <a:spcPct val="90000"/>
        </a:lnSpc>
        <a:spcBef>
          <a:spcPct val="0"/>
        </a:spcBef>
        <a:buNone/>
        <a:defRPr sz="65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65" indent="-342265" algn="l" defTabSz="1367790" rtl="0" eaLnBrk="1" latinLnBrk="0" hangingPunct="1">
        <a:lnSpc>
          <a:spcPct val="90000"/>
        </a:lnSpc>
        <a:spcBef>
          <a:spcPts val="1495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1pPr>
      <a:lvl2pPr marL="1026160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2pPr>
      <a:lvl3pPr marL="1710055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990" kern="1200">
          <a:solidFill>
            <a:schemeClr val="tx1"/>
          </a:solidFill>
          <a:latin typeface="+mn-lt"/>
          <a:ea typeface="+mn-ea"/>
          <a:cs typeface="+mn-cs"/>
        </a:defRPr>
      </a:lvl3pPr>
      <a:lvl4pPr marL="2393950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4pPr>
      <a:lvl5pPr marL="3079115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5pPr>
      <a:lvl6pPr marL="3763010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6pPr>
      <a:lvl7pPr marL="4446270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7pPr>
      <a:lvl8pPr marL="5130165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8pPr>
      <a:lvl9pPr marL="5813425" indent="-342265" algn="l" defTabSz="136779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2pPr>
      <a:lvl3pPr marL="1367790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3pPr>
      <a:lvl4pPr marL="2052320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4pPr>
      <a:lvl5pPr marL="2736850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5pPr>
      <a:lvl6pPr marL="3420110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6pPr>
      <a:lvl7pPr marL="4104005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7pPr>
      <a:lvl8pPr marL="4789170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8pPr>
      <a:lvl9pPr marL="5473065" algn="l" defTabSz="1367790" rtl="0" eaLnBrk="1" latinLnBrk="0" hangingPunct="1">
        <a:defRPr sz="26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svg"/><Relationship Id="rId22" Type="http://schemas.openxmlformats.org/officeDocument/2006/relationships/image" Target="../media/image21.png"/><Relationship Id="rId21" Type="http://schemas.openxmlformats.org/officeDocument/2006/relationships/tags" Target="../tags/tag1.xml"/><Relationship Id="rId20" Type="http://schemas.openxmlformats.org/officeDocument/2006/relationships/image" Target="../media/image20.jpe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圆角矩形 106"/>
          <p:cNvSpPr/>
          <p:nvPr/>
        </p:nvSpPr>
        <p:spPr>
          <a:xfrm>
            <a:off x="11306878" y="397702"/>
            <a:ext cx="1456197" cy="4045345"/>
          </a:xfrm>
          <a:prstGeom prst="round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lg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446010" y="6319520"/>
            <a:ext cx="4736465" cy="284416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47650" y="326210"/>
            <a:ext cx="1429732" cy="28454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</a:rPr>
              <a:t>肝内胆管癌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547650" y="914402"/>
            <a:ext cx="1429732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差异表达基因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446282" y="326569"/>
            <a:ext cx="1428890" cy="2845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数据库</a:t>
            </a:r>
            <a:endParaRPr lang="zh-CN" altLang="en-US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446010" y="838835"/>
            <a:ext cx="1430020" cy="353060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线粒体铁死亡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263615" y="1749590"/>
            <a:ext cx="1429732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候选基因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908002" y="2313043"/>
            <a:ext cx="2156671" cy="284508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单因素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Cox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分析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428013" y="1749648"/>
            <a:ext cx="1429732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GO/KEGG/PPI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420679" y="258265"/>
            <a:ext cx="1772080" cy="28454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单细胞GSE138709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591535" y="838837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质控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32075" y="7360926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GSEA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9593440" y="4158508"/>
            <a:ext cx="1429732" cy="2845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关键细胞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0619572" y="7360965"/>
            <a:ext cx="1332130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分子动力学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356600" y="7760970"/>
            <a:ext cx="2663825" cy="284480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β-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榄香烯-预后基因-通路网络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731977" y="7760891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免疫浸润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591535" y="2776512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聚类注释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29" name="直接箭头连接符 28"/>
          <p:cNvCxnSpPr>
            <a:stCxn id="6" idx="2"/>
            <a:endCxn id="7" idx="0"/>
          </p:cNvCxnSpPr>
          <p:nvPr/>
        </p:nvCxnSpPr>
        <p:spPr>
          <a:xfrm>
            <a:off x="8160340" y="610759"/>
            <a:ext cx="635" cy="22796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8" idx="2"/>
            <a:endCxn id="10" idx="0"/>
          </p:cNvCxnSpPr>
          <p:nvPr/>
        </p:nvCxnSpPr>
        <p:spPr>
          <a:xfrm>
            <a:off x="5978801" y="2034140"/>
            <a:ext cx="7621" cy="27879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5278164" y="4321421"/>
            <a:ext cx="1429732" cy="2845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预后基因</a:t>
            </a:r>
            <a:endParaRPr lang="zh-CN" altLang="en-US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10311164" y="543449"/>
            <a:ext cx="8891" cy="301019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9421019" y="5372994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拟时序分析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9421019" y="4976584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细胞通讯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65" name="肘形连接符 64"/>
          <p:cNvCxnSpPr>
            <a:stCxn id="5" idx="2"/>
            <a:endCxn id="8" idx="0"/>
          </p:cNvCxnSpPr>
          <p:nvPr/>
        </p:nvCxnSpPr>
        <p:spPr>
          <a:xfrm rot="5400000" flipV="1">
            <a:off x="5345430" y="1116330"/>
            <a:ext cx="550545" cy="715645"/>
          </a:xfrm>
          <a:prstGeom prst="bentConnector3">
            <a:avLst>
              <a:gd name="adj1" fmla="val 50058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stCxn id="7" idx="2"/>
            <a:endCxn id="8" idx="0"/>
          </p:cNvCxnSpPr>
          <p:nvPr/>
        </p:nvCxnSpPr>
        <p:spPr>
          <a:xfrm rot="5400000">
            <a:off x="6791008" y="379413"/>
            <a:ext cx="557530" cy="2182495"/>
          </a:xfrm>
          <a:prstGeom prst="bentConnector3">
            <a:avLst>
              <a:gd name="adj1" fmla="val 49943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10314340" y="3060960"/>
            <a:ext cx="0" cy="41475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8991600" y="4779010"/>
            <a:ext cx="4037330" cy="1446530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cxnSp>
        <p:nvCxnSpPr>
          <p:cNvPr id="71" name="直接箭头连接符 70"/>
          <p:cNvCxnSpPr>
            <a:stCxn id="21" idx="2"/>
          </p:cNvCxnSpPr>
          <p:nvPr/>
        </p:nvCxnSpPr>
        <p:spPr>
          <a:xfrm flipH="1">
            <a:off x="10306938" y="4443121"/>
            <a:ext cx="1270" cy="335948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9608047" y="1462568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高变基因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593440" y="2119223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PCA降维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27" name="直接箭头连接符 26"/>
          <p:cNvCxnSpPr>
            <a:stCxn id="17" idx="2"/>
          </p:cNvCxnSpPr>
          <p:nvPr/>
        </p:nvCxnSpPr>
        <p:spPr>
          <a:xfrm>
            <a:off x="10307989" y="2403670"/>
            <a:ext cx="3175" cy="35373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10320055" y="1747016"/>
            <a:ext cx="8891" cy="383577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10311164" y="1131641"/>
            <a:ext cx="8891" cy="33023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9591535" y="3475715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不同类型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细胞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37" name="直接箭头连接符 36"/>
          <p:cNvCxnSpPr>
            <a:stCxn id="36" idx="2"/>
          </p:cNvCxnSpPr>
          <p:nvPr/>
        </p:nvCxnSpPr>
        <p:spPr>
          <a:xfrm flipH="1">
            <a:off x="10297193" y="3760163"/>
            <a:ext cx="8891" cy="389928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3094" y="1579553"/>
            <a:ext cx="1048487" cy="1048487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396" y="2669954"/>
            <a:ext cx="1059919" cy="805894"/>
          </a:xfrm>
          <a:prstGeom prst="rect">
            <a:avLst/>
          </a:prstGeom>
        </p:spPr>
      </p:pic>
      <p:pic>
        <p:nvPicPr>
          <p:cNvPr id="104" name="图片 2"/>
          <p:cNvPicPr>
            <a:picLocks noChangeAspect="1"/>
          </p:cNvPicPr>
          <p:nvPr/>
        </p:nvPicPr>
        <p:blipFill>
          <a:blip r:embed="rId3"/>
          <a:srcRect l="7770" r="3511" b="15419"/>
          <a:stretch>
            <a:fillRect/>
          </a:stretch>
        </p:blipFill>
        <p:spPr>
          <a:xfrm>
            <a:off x="11512003" y="3572378"/>
            <a:ext cx="1045312" cy="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169" y="4944181"/>
            <a:ext cx="895437" cy="70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6359" y="4872985"/>
            <a:ext cx="892897" cy="784302"/>
          </a:xfrm>
          <a:prstGeom prst="rect">
            <a:avLst/>
          </a:prstGeom>
        </p:spPr>
      </p:pic>
      <p:cxnSp>
        <p:nvCxnSpPr>
          <p:cNvPr id="2" name="直接箭头连接符 1"/>
          <p:cNvCxnSpPr>
            <a:stCxn id="51" idx="2"/>
          </p:cNvCxnSpPr>
          <p:nvPr/>
        </p:nvCxnSpPr>
        <p:spPr>
          <a:xfrm flipH="1">
            <a:off x="5986422" y="3901222"/>
            <a:ext cx="5080" cy="42039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9" idx="3"/>
            <a:endCxn id="36" idx="1"/>
          </p:cNvCxnSpPr>
          <p:nvPr/>
        </p:nvCxnSpPr>
        <p:spPr>
          <a:xfrm flipV="1">
            <a:off x="6708140" y="3618230"/>
            <a:ext cx="2883535" cy="845185"/>
          </a:xfrm>
          <a:prstGeom prst="bentConnector3">
            <a:avLst>
              <a:gd name="adj1" fmla="val 50011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/>
        </p:nvSpPr>
        <p:spPr>
          <a:xfrm>
            <a:off x="9421019" y="5787092"/>
            <a:ext cx="1429732" cy="2845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scMetabolism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4194" y="5645296"/>
            <a:ext cx="983076" cy="445178"/>
          </a:xfrm>
          <a:prstGeom prst="rect">
            <a:avLst/>
          </a:prstGeom>
        </p:spPr>
      </p:pic>
      <p:sp>
        <p:nvSpPr>
          <p:cNvPr id="45" name="圆角矩形 44"/>
          <p:cNvSpPr/>
          <p:nvPr/>
        </p:nvSpPr>
        <p:spPr>
          <a:xfrm>
            <a:off x="5263615" y="2927630"/>
            <a:ext cx="1429732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LASSO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48" name="直接箭头连接符 47"/>
          <p:cNvCxnSpPr>
            <a:endCxn id="45" idx="0"/>
          </p:cNvCxnSpPr>
          <p:nvPr/>
        </p:nvCxnSpPr>
        <p:spPr>
          <a:xfrm>
            <a:off x="5978166" y="2597440"/>
            <a:ext cx="0" cy="33023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4917528" y="3616825"/>
            <a:ext cx="2147145" cy="284508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多因素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Cox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分析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53" name="直接箭头连接符 52"/>
          <p:cNvCxnSpPr>
            <a:stCxn id="45" idx="2"/>
            <a:endCxn id="51" idx="0"/>
          </p:cNvCxnSpPr>
          <p:nvPr/>
        </p:nvCxnSpPr>
        <p:spPr>
          <a:xfrm>
            <a:off x="5978801" y="3212180"/>
            <a:ext cx="12701" cy="4045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216" y="1550968"/>
            <a:ext cx="1030071" cy="63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7396" y="472005"/>
            <a:ext cx="1151368" cy="1112629"/>
          </a:xfrm>
          <a:prstGeom prst="rect">
            <a:avLst/>
          </a:prstGeom>
        </p:spPr>
      </p:pic>
      <p:cxnSp>
        <p:nvCxnSpPr>
          <p:cNvPr id="3" name="直接箭头连接符 2"/>
          <p:cNvCxnSpPr>
            <a:stCxn id="4" idx="2"/>
            <a:endCxn id="5" idx="0"/>
          </p:cNvCxnSpPr>
          <p:nvPr/>
        </p:nvCxnSpPr>
        <p:spPr>
          <a:xfrm>
            <a:off x="5262285" y="610442"/>
            <a:ext cx="0" cy="30419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9" idx="2"/>
          </p:cNvCxnSpPr>
          <p:nvPr/>
        </p:nvCxnSpPr>
        <p:spPr>
          <a:xfrm flipH="1">
            <a:off x="5991503" y="4605474"/>
            <a:ext cx="1905" cy="44005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/>
        </p:nvSpPr>
        <p:spPr>
          <a:xfrm>
            <a:off x="5279491" y="5045464"/>
            <a:ext cx="1429731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风险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模型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3284855" y="5045710"/>
            <a:ext cx="1633220" cy="2844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训练集+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验证集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67" name="直接箭头连接符 66"/>
          <p:cNvCxnSpPr>
            <a:stCxn id="64" idx="3"/>
            <a:endCxn id="61" idx="1"/>
          </p:cNvCxnSpPr>
          <p:nvPr/>
        </p:nvCxnSpPr>
        <p:spPr>
          <a:xfrm>
            <a:off x="4918009" y="5188250"/>
            <a:ext cx="361315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>
          <a:xfrm>
            <a:off x="1497339" y="4475869"/>
            <a:ext cx="1429731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风险评分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1497339" y="5045464"/>
            <a:ext cx="1429731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K-M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曲线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1497339" y="5644904"/>
            <a:ext cx="1429731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ROC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曲线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75" name="肘形连接符 74"/>
          <p:cNvCxnSpPr>
            <a:endCxn id="68" idx="3"/>
          </p:cNvCxnSpPr>
          <p:nvPr/>
        </p:nvCxnSpPr>
        <p:spPr>
          <a:xfrm rot="10800000">
            <a:off x="2926715" y="4617720"/>
            <a:ext cx="357505" cy="569595"/>
          </a:xfrm>
          <a:prstGeom prst="bentConnector3">
            <a:avLst>
              <a:gd name="adj1" fmla="val 49911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72" idx="3"/>
          </p:cNvCxnSpPr>
          <p:nvPr/>
        </p:nvCxnSpPr>
        <p:spPr>
          <a:xfrm flipH="1">
            <a:off x="2927350" y="5187315"/>
            <a:ext cx="188595" cy="6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endCxn id="73" idx="3"/>
          </p:cNvCxnSpPr>
          <p:nvPr/>
        </p:nvCxnSpPr>
        <p:spPr>
          <a:xfrm rot="5400000">
            <a:off x="2715895" y="5397500"/>
            <a:ext cx="601345" cy="177800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圆角矩形 77"/>
          <p:cNvSpPr/>
          <p:nvPr/>
        </p:nvSpPr>
        <p:spPr>
          <a:xfrm>
            <a:off x="1057107" y="6792005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临床特征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8695" y="122555"/>
            <a:ext cx="1377315" cy="130365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6915" y="2199005"/>
            <a:ext cx="1651000" cy="152781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8945" y="2696845"/>
            <a:ext cx="1388745" cy="820420"/>
          </a:xfrm>
          <a:prstGeom prst="rect">
            <a:avLst/>
          </a:prstGeom>
        </p:spPr>
      </p:pic>
      <p:pic>
        <p:nvPicPr>
          <p:cNvPr id="86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0745" y="3517265"/>
            <a:ext cx="875665" cy="765175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7330" y="3328035"/>
            <a:ext cx="1569720" cy="99314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1200" y="3883660"/>
            <a:ext cx="883920" cy="89535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15"/>
          <a:srcRect r="49979"/>
          <a:stretch>
            <a:fillRect/>
          </a:stretch>
        </p:blipFill>
        <p:spPr>
          <a:xfrm>
            <a:off x="5805805" y="8209280"/>
            <a:ext cx="903605" cy="751205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4140" y="6463665"/>
            <a:ext cx="1023620" cy="772795"/>
          </a:xfrm>
          <a:prstGeom prst="rect">
            <a:avLst/>
          </a:prstGeom>
        </p:spPr>
      </p:pic>
      <p:sp>
        <p:nvSpPr>
          <p:cNvPr id="28" name="圆角矩形 27"/>
          <p:cNvSpPr/>
          <p:nvPr/>
        </p:nvSpPr>
        <p:spPr>
          <a:xfrm>
            <a:off x="1028065" y="6313170"/>
            <a:ext cx="6203315" cy="2844800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cxnSp>
        <p:nvCxnSpPr>
          <p:cNvPr id="33" name="肘形连接符 32"/>
          <p:cNvCxnSpPr/>
          <p:nvPr/>
        </p:nvCxnSpPr>
        <p:spPr>
          <a:xfrm rot="5400000">
            <a:off x="4139883" y="4458653"/>
            <a:ext cx="982980" cy="2726055"/>
          </a:xfrm>
          <a:prstGeom prst="bentConnector3">
            <a:avLst>
              <a:gd name="adj1" fmla="val 49968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1057107" y="7325405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单因素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Cox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057107" y="7823245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多因素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Cox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2602062" y="7325405"/>
            <a:ext cx="1332130" cy="28454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独立预后模型</a:t>
            </a:r>
            <a:endParaRPr 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4134952" y="7823245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ROC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曲线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4134952" y="7325405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DCA</a:t>
            </a: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曲线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4134952" y="6792005"/>
            <a:ext cx="1332130" cy="2845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校准曲线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59" name="肘形连接符 58"/>
          <p:cNvCxnSpPr>
            <a:stCxn id="46" idx="1"/>
            <a:endCxn id="78" idx="3"/>
          </p:cNvCxnSpPr>
          <p:nvPr/>
        </p:nvCxnSpPr>
        <p:spPr>
          <a:xfrm rot="10800000">
            <a:off x="2389505" y="6934200"/>
            <a:ext cx="212725" cy="533400"/>
          </a:xfrm>
          <a:prstGeom prst="bentConnector3">
            <a:avLst>
              <a:gd name="adj1" fmla="val 49851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endCxn id="40" idx="3"/>
          </p:cNvCxnSpPr>
          <p:nvPr/>
        </p:nvCxnSpPr>
        <p:spPr>
          <a:xfrm flipH="1">
            <a:off x="2389505" y="7466330"/>
            <a:ext cx="102235" cy="127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/>
          <p:nvPr/>
        </p:nvCxnSpPr>
        <p:spPr>
          <a:xfrm rot="5400000">
            <a:off x="2199005" y="7666355"/>
            <a:ext cx="492760" cy="105410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46" idx="3"/>
            <a:endCxn id="58" idx="1"/>
          </p:cNvCxnSpPr>
          <p:nvPr/>
        </p:nvCxnSpPr>
        <p:spPr>
          <a:xfrm flipV="1">
            <a:off x="3934460" y="6934200"/>
            <a:ext cx="200660" cy="533400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endCxn id="57" idx="1"/>
          </p:cNvCxnSpPr>
          <p:nvPr/>
        </p:nvCxnSpPr>
        <p:spPr>
          <a:xfrm>
            <a:off x="4033520" y="7465060"/>
            <a:ext cx="101600" cy="254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肘形连接符 79"/>
          <p:cNvCxnSpPr>
            <a:endCxn id="47" idx="1"/>
          </p:cNvCxnSpPr>
          <p:nvPr/>
        </p:nvCxnSpPr>
        <p:spPr>
          <a:xfrm rot="5400000" flipV="1">
            <a:off x="3836035" y="7665720"/>
            <a:ext cx="497205" cy="101600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/>
        </p:nvSpPr>
        <p:spPr>
          <a:xfrm>
            <a:off x="9128918" y="7360878"/>
            <a:ext cx="1332130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分子对接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pic>
        <p:nvPicPr>
          <p:cNvPr id="95" name="图片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1585" y="8195310"/>
            <a:ext cx="942975" cy="67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67940" y="7823835"/>
            <a:ext cx="1366520" cy="104584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2300" y="8195310"/>
            <a:ext cx="762000" cy="704850"/>
          </a:xfrm>
          <a:prstGeom prst="rect">
            <a:avLst/>
          </a:prstGeom>
        </p:spPr>
      </p:pic>
      <p:sp>
        <p:nvSpPr>
          <p:cNvPr id="100" name="圆角矩形 99"/>
          <p:cNvSpPr/>
          <p:nvPr/>
        </p:nvSpPr>
        <p:spPr>
          <a:xfrm>
            <a:off x="7501356" y="2312424"/>
            <a:ext cx="1429731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训练集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101" name="直接箭头连接符 100"/>
          <p:cNvCxnSpPr>
            <a:stCxn id="100" idx="1"/>
            <a:endCxn id="10" idx="3"/>
          </p:cNvCxnSpPr>
          <p:nvPr/>
        </p:nvCxnSpPr>
        <p:spPr>
          <a:xfrm flipH="1">
            <a:off x="7064375" y="2454910"/>
            <a:ext cx="436880" cy="6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stCxn id="8" idx="1"/>
            <a:endCxn id="13" idx="3"/>
          </p:cNvCxnSpPr>
          <p:nvPr/>
        </p:nvCxnSpPr>
        <p:spPr>
          <a:xfrm flipH="1">
            <a:off x="4857750" y="1891665"/>
            <a:ext cx="405765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2194340" y="325575"/>
            <a:ext cx="1429732" cy="28454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</a:rPr>
              <a:t>数据库</a:t>
            </a:r>
            <a:endParaRPr 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194560" y="843915"/>
            <a:ext cx="1430020" cy="354330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β-</a:t>
            </a:r>
            <a:r>
              <a:rPr lang="zh-CN" altLang="en-US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榄香烯相关靶点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cxnSp>
        <p:nvCxnSpPr>
          <p:cNvPr id="19" name="直接箭头连接符 18"/>
          <p:cNvCxnSpPr>
            <a:stCxn id="11" idx="2"/>
            <a:endCxn id="12" idx="0"/>
          </p:cNvCxnSpPr>
          <p:nvPr/>
        </p:nvCxnSpPr>
        <p:spPr>
          <a:xfrm>
            <a:off x="2909610" y="610442"/>
            <a:ext cx="0" cy="23368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12" idx="2"/>
            <a:endCxn id="8" idx="0"/>
          </p:cNvCxnSpPr>
          <p:nvPr/>
        </p:nvCxnSpPr>
        <p:spPr>
          <a:xfrm rot="5400000" flipV="1">
            <a:off x="4168458" y="-60642"/>
            <a:ext cx="551180" cy="3068955"/>
          </a:xfrm>
          <a:prstGeom prst="bentConnector3">
            <a:avLst>
              <a:gd name="adj1" fmla="val 49942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肘形连接符 93"/>
          <p:cNvCxnSpPr>
            <a:stCxn id="39" idx="3"/>
          </p:cNvCxnSpPr>
          <p:nvPr/>
        </p:nvCxnSpPr>
        <p:spPr>
          <a:xfrm>
            <a:off x="6708140" y="4463415"/>
            <a:ext cx="1649095" cy="1847215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圆角矩形 97"/>
          <p:cNvSpPr/>
          <p:nvPr/>
        </p:nvSpPr>
        <p:spPr>
          <a:xfrm>
            <a:off x="7599203" y="7360878"/>
            <a:ext cx="1332130" cy="284549"/>
          </a:xfrm>
          <a:prstGeom prst="roundRect">
            <a:avLst/>
          </a:prstGeom>
          <a:solidFill>
            <a:srgbClr val="F3D2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GAEA</a:t>
            </a:r>
            <a:endParaRPr lang="en-US" altLang="zh-CN" sz="140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84850" y="6566535"/>
            <a:ext cx="1023620" cy="772795"/>
          </a:xfrm>
          <a:prstGeom prst="rect">
            <a:avLst/>
          </a:prstGeom>
        </p:spPr>
      </p:pic>
      <p:pic>
        <p:nvPicPr>
          <p:cNvPr id="110" name="图片 109"/>
          <p:cNvPicPr/>
          <p:nvPr/>
        </p:nvPicPr>
        <p:blipFill>
          <a:blip r:embed="rId20"/>
          <a:stretch>
            <a:fillRect/>
          </a:stretch>
        </p:blipFill>
        <p:spPr>
          <a:xfrm>
            <a:off x="483870" y="193040"/>
            <a:ext cx="1388745" cy="1698625"/>
          </a:xfrm>
          <a:prstGeom prst="rect">
            <a:avLst/>
          </a:prstGeom>
        </p:spPr>
      </p:pic>
      <p:pic>
        <p:nvPicPr>
          <p:cNvPr id="111" name="图片 110" descr="肝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33470" y="258445"/>
            <a:ext cx="914400" cy="914400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65615" y="8107680"/>
            <a:ext cx="1042035" cy="955040"/>
          </a:xfrm>
          <a:prstGeom prst="rect">
            <a:avLst/>
          </a:prstGeom>
        </p:spPr>
      </p:pic>
      <p:pic>
        <p:nvPicPr>
          <p:cNvPr id="113" name="图片 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10675" y="6491605"/>
            <a:ext cx="1196975" cy="745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666918" name="图片 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43565" y="6407150"/>
            <a:ext cx="1083945" cy="829310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67230" y="2034540"/>
            <a:ext cx="1283970" cy="12934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98910&quot;,&quot;origin&quot;:0,&quot;type&quot;:&quot;icons&quot;,&quot;user&quot;:&quot;302871806&quot;}"/>
</p:tagLst>
</file>

<file path=ppt/tags/tag2.xml><?xml version="1.0" encoding="utf-8"?>
<p:tagLst xmlns:p="http://schemas.openxmlformats.org/presentationml/2006/main">
  <p:tag name="resource_record_key" val="{&quot;10&quot;:[21588097,50063597,21566224,50026923,2159891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WPS 演示</Application>
  <PresentationFormat>宽屏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Palatino Linotype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62</cp:revision>
  <dcterms:created xsi:type="dcterms:W3CDTF">2023-08-09T12:44:00Z</dcterms:created>
  <dcterms:modified xsi:type="dcterms:W3CDTF">2026-06-10T08:05:23Z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21CDC8DF6C104DFB89C6E49EF369CD0D_12</vt:lpwstr>
  </property>
</Properties>
</file>